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07f2505cd448f7" /><Relationship Type="http://schemas.openxmlformats.org/officeDocument/2006/relationships/extended-properties" Target="/docProps/app.xml" Id="R5786cd1b27474f04" /><Relationship Type="http://schemas.openxmlformats.org/officeDocument/2006/relationships/officeDocument" Target="/ppt/presentation.xml" Id="R7f3f575d8303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265072d46e4d63"/>
  </p:sldMasterIdLst>
  <p:notesMasterIdLst>
    <p:notesMasterId xmlns:r="http://schemas.openxmlformats.org/officeDocument/2006/relationships" r:id="Rdfc9575c3c804df6"/>
  </p:notesMasterIdLst>
  <p:sldIdLst>
    <p:sldId xmlns:r="http://schemas.openxmlformats.org/officeDocument/2006/relationships" id="256" r:id="R764ba11cdaac453c"/>
    <p:sldId xmlns:r="http://schemas.openxmlformats.org/officeDocument/2006/relationships" id="257" r:id="R5e7742eef31046c4"/>
    <p:sldId xmlns:r="http://schemas.openxmlformats.org/officeDocument/2006/relationships" id="258" r:id="R19fd2701905b432b"/>
    <p:sldId xmlns:r="http://schemas.openxmlformats.org/officeDocument/2006/relationships" id="259" r:id="R028a3dc6d1664ca3"/>
    <p:sldId xmlns:r="http://schemas.openxmlformats.org/officeDocument/2006/relationships" id="260" r:id="R27b12d4985fe4524"/>
    <p:sldId xmlns:r="http://schemas.openxmlformats.org/officeDocument/2006/relationships" id="261" r:id="R1a18c1d29f0146fc"/>
    <p:sldId xmlns:r="http://schemas.openxmlformats.org/officeDocument/2006/relationships" id="262" r:id="R12c262097c4644ee"/>
    <p:sldId xmlns:r="http://schemas.openxmlformats.org/officeDocument/2006/relationships" id="263" r:id="Rd17ec82e835749bf"/>
    <p:sldId xmlns:r="http://schemas.openxmlformats.org/officeDocument/2006/relationships" id="264" r:id="Ra2872ecc25f34852"/>
    <p:sldId xmlns:r="http://schemas.openxmlformats.org/officeDocument/2006/relationships" id="265" r:id="R919f819e4bb54cbb"/>
    <p:sldId xmlns:r="http://schemas.openxmlformats.org/officeDocument/2006/relationships" id="266" r:id="Rb0eff7d9191e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032ba6ad84475" /><Relationship Type="http://schemas.openxmlformats.org/officeDocument/2006/relationships/slideMaster" Target="/ppt/slideMasters/slideMaster1.xml" Id="R5b265072d46e4d63" /><Relationship Type="http://schemas.openxmlformats.org/officeDocument/2006/relationships/notesMaster" Target="/ppt/notesMasters/notesMaster1.xml" Id="Rdfc9575c3c804df6" /><Relationship Type="http://schemas.openxmlformats.org/officeDocument/2006/relationships/presProps" Target="/ppt/presProps.xml" Id="R060a68ced686491d" /><Relationship Type="http://schemas.openxmlformats.org/officeDocument/2006/relationships/tableStyles" Target="/ppt/tableStyles.xml" Id="Rff71182aac624bca" /><Relationship Type="http://schemas.openxmlformats.org/officeDocument/2006/relationships/slide" Target="/ppt/slides/slide1.xml" Id="R764ba11cdaac453c" /><Relationship Type="http://schemas.openxmlformats.org/officeDocument/2006/relationships/slide" Target="/ppt/slides/slide2.xml" Id="R5e7742eef31046c4" /><Relationship Type="http://schemas.openxmlformats.org/officeDocument/2006/relationships/slide" Target="/ppt/slides/slide3.xml" Id="R19fd2701905b432b" /><Relationship Type="http://schemas.openxmlformats.org/officeDocument/2006/relationships/slide" Target="/ppt/slides/slide4.xml" Id="R028a3dc6d1664ca3" /><Relationship Type="http://schemas.openxmlformats.org/officeDocument/2006/relationships/slide" Target="/ppt/slides/slide5.xml" Id="R27b12d4985fe4524" /><Relationship Type="http://schemas.openxmlformats.org/officeDocument/2006/relationships/slide" Target="/ppt/slides/slide6.xml" Id="R1a18c1d29f0146fc" /><Relationship Type="http://schemas.openxmlformats.org/officeDocument/2006/relationships/slide" Target="/ppt/slides/slide7.xml" Id="R12c262097c4644ee" /><Relationship Type="http://schemas.openxmlformats.org/officeDocument/2006/relationships/slide" Target="/ppt/slides/slide8.xml" Id="Rd17ec82e835749bf" /><Relationship Type="http://schemas.openxmlformats.org/officeDocument/2006/relationships/slide" Target="/ppt/slides/slide9.xml" Id="Ra2872ecc25f34852" /><Relationship Type="http://schemas.openxmlformats.org/officeDocument/2006/relationships/slide" Target="/ppt/slides/slide10.xml" Id="R919f819e4bb54cbb" /><Relationship Type="http://schemas.openxmlformats.org/officeDocument/2006/relationships/slide" Target="/ppt/slides/slide11.xml" Id="Rb0eff7d9191e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cac17c60f45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b936ea058f49d3" /><Relationship Type="http://schemas.openxmlformats.org/officeDocument/2006/relationships/notesMaster" Target="/ppt/notesMasters/notesMaster1.xml" Id="R1190d7a477b747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a056f1a8c4c06" /><Relationship Type="http://schemas.openxmlformats.org/officeDocument/2006/relationships/notesMaster" Target="/ppt/notesMasters/notesMaster1.xml" Id="R05a781b05f794e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df94f4b6c34fd4" /><Relationship Type="http://schemas.openxmlformats.org/officeDocument/2006/relationships/notesMaster" Target="/ppt/notesMasters/notesMaster1.xml" Id="Rb82ccbf29e214a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b62798d90e447d" /><Relationship Type="http://schemas.openxmlformats.org/officeDocument/2006/relationships/notesMaster" Target="/ppt/notesMasters/notesMaster1.xml" Id="R9c25852e19974b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5c5e532a649c5" /><Relationship Type="http://schemas.openxmlformats.org/officeDocument/2006/relationships/notesMaster" Target="/ppt/notesMasters/notesMaster1.xml" Id="R87205f424a5e48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91b18d441472e" /><Relationship Type="http://schemas.openxmlformats.org/officeDocument/2006/relationships/notesMaster" Target="/ppt/notesMasters/notesMaster1.xml" Id="R4494c80e5c2a4a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6c15e4f53a449c" /><Relationship Type="http://schemas.openxmlformats.org/officeDocument/2006/relationships/notesMaster" Target="/ppt/notesMasters/notesMaster1.xml" Id="R1277b0b191ec4e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5f03492ede40b7" /><Relationship Type="http://schemas.openxmlformats.org/officeDocument/2006/relationships/notesMaster" Target="/ppt/notesMasters/notesMaster1.xml" Id="R02fd664e4c864e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81c90f94d746fb" /><Relationship Type="http://schemas.openxmlformats.org/officeDocument/2006/relationships/notesMaster" Target="/ppt/notesMasters/notesMaster1.xml" Id="R300b80067a9c4e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980f2717744892" /><Relationship Type="http://schemas.openxmlformats.org/officeDocument/2006/relationships/notesMaster" Target="/ppt/notesMasters/notesMaster1.xml" Id="Ra8aca0b120f049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73ea0a071b4227" /><Relationship Type="http://schemas.openxmlformats.org/officeDocument/2006/relationships/notesMaster" Target="/ppt/notesMasters/notesMaster1.xml" Id="R0c8ce38142bb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industrial inspection problem and the project scope.</a:t>
            </a:r>
          </a:p>
          <a:p xmlns:a="http://schemas.openxmlformats.org/drawingml/2006/main">
            <a:r>
              <a:t>The goal is binary classification: Good versus Defective, with explainability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dataset: MVTec AD Tile category; Bergmann et al., CVPR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accuracy alone is not enough.</a:t>
            </a:r>
          </a:p>
          <a:p xmlns:a="http://schemas.openxmlformats.org/drawingml/2006/main">
            <a:r>
              <a:t>Defective recall is especially important, but unnecessary review also has an operational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specification and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dataset was originally designed for unsupervised anomaly detection.</a:t>
            </a:r>
          </a:p>
          <a:p xmlns:a="http://schemas.openxmlformats.org/drawingml/2006/main">
            <a:r>
              <a:t>This project uses a documented supervised reformulation and performs all splitting before augmentation.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notebook 01 and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slide to Ammar's feedback: transfer learning was recommended because the dataset is small.</a:t>
            </a:r>
          </a:p>
          <a:p xmlns:a="http://schemas.openxmlformats.org/drawingml/2006/main">
            <a:r>
              <a:t>Fine-tuning was intentionally limited to reduce overfitting.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email feedback; executed notebooks 03 and 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interpret baseline recall in isolation; its precision and accuracy were only 25.93%.</a:t>
            </a:r>
          </a:p>
          <a:p xmlns:a="http://schemas.openxmlformats.org/drawingml/2006/main">
            <a:r>
              <a:t>The fine-tuned model offered the best balanced validation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training histories and milestone 3/5 validation summaries.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checkpoint saved at epoch 5 is the final model.</a:t>
            </a:r>
          </a:p>
          <a:p xmlns:a="http://schemas.openxmlformats.org/drawingml/2006/main">
            <a:r>
              <a:t>The validation fluctuations reinforce the need for restrained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notebook 05; fine-tuning history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policy was locked using validation only.</a:t>
            </a:r>
          </a:p>
          <a:p xmlns:a="http://schemas.openxmlformats.org/drawingml/2006/main">
            <a:r>
              <a:t>The apparent validation safety did not become a guarantee; the test slide will show the generalization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notebook 06; milestone 5 threshold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columns: original image, heatmap, overlay.</a:t>
            </a:r>
          </a:p>
          <a:p xmlns:a="http://schemas.openxmlformats.org/drawingml/2006/main">
            <a:r>
              <a:t>Emphasize that Grad-CAM helps diagnose behavior but does not validate causality.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notebook 07 and milestone 6 Grad-CAM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was the one-time test evaluation after locking model and thresholds.</a:t>
            </a:r>
          </a:p>
          <a:p xmlns:a="http://schemas.openxmlformats.org/drawingml/2006/main">
            <a:r>
              <a:t>Confusion matrix: 38 TN, 1 FP, 2 FN, 10 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notebook 08; milestone 7 final test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project's most important limitation.</a:t>
            </a:r>
          </a:p>
          <a:p xmlns:a="http://schemas.openxmlformats.org/drawingml/2006/main">
            <a:r>
              <a:t>The human-review policy reduced false-alarm cost but did not prevent every missed defect.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Executed notebook 08; final test prediction table and error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tension: the model is useful, but missed defects remain the governing risk.</a:t>
            </a:r>
          </a:p>
          <a:p xmlns:a="http://schemas.openxmlformats.org/drawingml/2006/main">
            <a:r>
              <a:t>Invite questions about the supervised reformulation, threshold policy, and next development 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Final report and executed project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af3269692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f60d4ac8e3455d" /><Relationship Type="http://schemas.openxmlformats.org/officeDocument/2006/relationships/slideLayout" Target="/ppt/slideLayouts/slideLayout1.xml" Id="R1e90cd3dc81e49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0cd3dc81e49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1005191104a8a" /><Relationship Type="http://schemas.openxmlformats.org/officeDocument/2006/relationships/image" Target="/ppt/media/image.png" Id="R55923e4be7f0497d" /><Relationship Type="http://schemas.openxmlformats.org/officeDocument/2006/relationships/notesSlide" Target="/ppt/notesSlides/notesSlide1.xml" Id="R268fe06d727f45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4beada7cc4b58" /><Relationship Type="http://schemas.openxmlformats.org/officeDocument/2006/relationships/image" Target="/ppt/media/image2.png" Id="R24e206a3f3884bd6" /><Relationship Type="http://schemas.openxmlformats.org/officeDocument/2006/relationships/notesSlide" Target="/ppt/notesSlides/notesSlide2.xml" Id="R4183db829b1f4a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8e72614249ec" /><Relationship Type="http://schemas.openxmlformats.org/officeDocument/2006/relationships/notesSlide" Target="/ppt/notesSlides/notesSlide3.xml" Id="R565a462aaf81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ae2dd8abb431e" /><Relationship Type="http://schemas.openxmlformats.org/officeDocument/2006/relationships/notesSlide" Target="/ppt/notesSlides/notesSlide4.xml" Id="R708fa53153c040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ec70bb79d4104" /><Relationship Type="http://schemas.openxmlformats.org/officeDocument/2006/relationships/chart" Target="/ppt/slides/charts/chart1.xml" Id="R0a472c36594c4f06" /><Relationship Type="http://schemas.openxmlformats.org/officeDocument/2006/relationships/notesSlide" Target="/ppt/notesSlides/notesSlide5.xml" Id="Ra041593df6da48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e1880bc7465a" /><Relationship Type="http://schemas.openxmlformats.org/officeDocument/2006/relationships/image" Target="/ppt/media/image3.png" Id="Rf885a8a64f8d4898" /><Relationship Type="http://schemas.openxmlformats.org/officeDocument/2006/relationships/notesSlide" Target="/ppt/notesSlides/notesSlide6.xml" Id="Rba1d09d5423e41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933def7044ded" /><Relationship Type="http://schemas.openxmlformats.org/officeDocument/2006/relationships/notesSlide" Target="/ppt/notesSlides/notesSlide7.xml" Id="R65de847305da4b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a40ab45f345f2" /><Relationship Type="http://schemas.openxmlformats.org/officeDocument/2006/relationships/image" Target="/ppt/media/image4.png" Id="R10fe0a8e8ec54222" /><Relationship Type="http://schemas.openxmlformats.org/officeDocument/2006/relationships/notesSlide" Target="/ppt/notesSlides/notesSlide8.xml" Id="Rc83f9866383e4a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4ad54f7194e19" /><Relationship Type="http://schemas.openxmlformats.org/officeDocument/2006/relationships/image" Target="/ppt/media/image5.png" Id="Ra7ba01d7a1c84e23" /><Relationship Type="http://schemas.openxmlformats.org/officeDocument/2006/relationships/notesSlide" Target="/ppt/notesSlides/notesSlide9.xml" Id="R771b6785882b43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3a1c820ab41fd" /><Relationship Type="http://schemas.openxmlformats.org/officeDocument/2006/relationships/image" Target="/ppt/media/image6.png" Id="R8e144d19cb784068" /><Relationship Type="http://schemas.openxmlformats.org/officeDocument/2006/relationships/notesSlide" Target="/ppt/notesSlides/notesSlide10.xml" Id="R28d8a2bd24ad44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1a30db2db4c9b" /><Relationship Type="http://schemas.openxmlformats.org/officeDocument/2006/relationships/notesSlide" Target="/ppt/notesSlides/notesSlide11.xml" Id="R49ef8d18706b4bc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Custom CNN</c:v>
              </c:pt>
              <c:pt idx="1">
                <c:v>Frozen MobileNetV2</c:v>
              </c:pt>
              <c:pt idx="2">
                <c:v>Fine-tuned MobileNetV2</c:v>
              </c:pt>
            </c:strLit>
          </c:cat>
          <c:val>
            <c:numLit>
              <c:formatCode>General</c:formatCode>
              <c:ptCount val="3"/>
              <c:pt idx="0">
                <c:v>25.93</c:v>
              </c:pt>
              <c:pt idx="1">
                <c:v>88.89</c:v>
              </c:pt>
              <c:pt idx="2">
                <c:v>94.44</c:v>
              </c:pt>
            </c:numLit>
          </c:val>
        </c:ser>
        <c:ser>
          <c:idx val="1"/>
          <c:order val="1"/>
          <c:tx>
            <c:v>Defective recall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Custom CNN</c:v>
              </c:pt>
              <c:pt idx="1">
                <c:v>Frozen MobileNetV2</c:v>
              </c:pt>
              <c:pt idx="2">
                <c:v>Fine-tuned MobileNetV2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71.43</c:v>
              </c:pt>
              <c:pt idx="2">
                <c:v>85.71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DD481-95C1-4557-BDEB-CC2B7FC8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 PROJECT · DSPT 0326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CBA9B-CA6F-4DDD-A931-E868124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Industrial Surface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Defect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C8458-9AC9-4A22-A4F7-E390970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Deep learning, Grad-CAM, and confidence-based human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C3B3D-A203-4D84-A66E-9580C74E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Atousa  ·  August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23e4be7f0497d"/>
          <a:srcRect xmlns:a="http://schemas.openxmlformats.org/drawingml/2006/main" l="1695" t="0" r="16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00050"/>
            <a:ext cx="5429250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362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B036BF3-3FD1-4B72-AD64-DBB39881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useful inspection model must manage two asymmetric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7BE98-72AA-4E84-BCF5-63AD491D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42CC6-653A-46BE-8BA9-ED5F172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3F979-4BA9-4449-A43F-019454E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Missed defects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6BC1B-D5EE-4ED8-A835-A2ABBDF3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 false negative may allow a defective product to pass inspection.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A985F-C539-4032-BD31-2E1E2D3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5301F-7E1C-497F-98B2-EAE1A3BA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 false positive increases manual inspection and rework cost.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206a3f3884bd6"/>
          <a:srcRect xmlns:a="http://schemas.openxmlformats.org/drawingml/2006/main" l="0" t="8772" r="0" b="8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28750"/>
            <a:ext cx="542925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B6183-1E69-4DB3-A384-FB48472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483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Primary task: supervised binary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163928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5BB8861-1EF1-43F8-81D5-4D6486E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Leakage-safe splitting protects the final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26118-16C5-4EFC-B459-B5BCD4B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3D4E2-58BA-4049-BAA3-9B978E16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619250" y="3381375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2FFB6-41B1-43FE-A716-EA03A69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0675D-25B0-4A05-A91F-F6224FF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361DA-E5B8-4955-975A-D7DE0E15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242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E69F3-5A93-40EF-BC35-D74E68F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184 Good · 58 Defective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36884-B7C4-4709-9728-07A77D72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Parameter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BFDD5-BEBA-4D00-A539-879E7EF7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F56C1-AA5A-474D-82E9-963E0EA3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7361-641C-4274-9F7D-63E9284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54 images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610E0-C39D-4B02-A713-A417580B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40 Good · 14 Defective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2836D-B80D-4145-81B7-D1F5CC3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+ threshold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B121F-91E7-4C5B-9F6F-9D584FFE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9184E-5A66-4B2A-B00D-3F067535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EF534-964D-4B01-8FF5-B83DC47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51 images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B6E28-E1E8-46E2-8EDC-5FCB4261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39 Good · 12 Defective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1A5A8-F2E5-41F3-ACF6-24E112F2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locked final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5CBDA-19FA-48C5-A89B-F9BF82E5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Original-image groups and SHA-256 hashes remain isolated across splits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4DD98-BF97-434E-A15A-FCECCC34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Augmentation is applied only to training batches</a:t>
            </a:r>
          </a:p>
        </p:txBody>
      </p:sp>
    </p:spTree>
    <p:extLst>
      <p:ext uri="{BB962C8B-B14F-4D97-AF65-F5344CB8AC3E}">
        <p14:creationId xmlns:p14="http://schemas.microsoft.com/office/powerpoint/2010/main" val="19716716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B6FC83B-9301-4463-AFA9-1DF9DE1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Transfer learning solved the small-data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5BDBB-3F6F-49F3-890B-69A12FA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9393F-5729-473B-ACD2-B50AB35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1428750" y="3028950"/>
            <a:ext cx="914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CF9E1-4D59-44F9-96F6-508F0C6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898F2-D23C-4F0E-8D38-0DA1006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EBBF9-6A1E-4E0F-9232-8C84370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 CNN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ED2DD-4BEC-49BF-90E5-E1899C6E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Reference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C2290-4AAF-4FB7-A848-2679EE06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Overfit; weak 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C47BA-86A5-4363-A4D4-1EB2663F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39D92-9189-49AC-B3CD-294AF70E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57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51E2C-299D-4208-9B27-D28BB3B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 MobileNetV2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7B673-05EF-49B1-AD2A-A6C007C4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47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ImageNet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6A108-03F9-4732-BCDD-CCA559A7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Strong validation AUC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B32D0-F4C9-4CB0-A9B5-91DB2A8F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41526-EC23-4E9A-95EA-B514B82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57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1218C-0542-47F5-B281-DEDC274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fine-tuning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3D8E3-C816-4425-8C60-C7A3709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47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Last 20 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BFF81-9CDB-413C-A7D3-4A15675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14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Best validation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F19C6-ADF3-47C7-9150-46A196FC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333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Fine-tuning: Adam 1e-5 · BatchNormalization frozen · EarlyStopping</a:t>
            </a:r>
          </a:p>
        </p:txBody>
      </p:sp>
    </p:spTree>
    <p:extLst>
      <p:ext uri="{BB962C8B-B14F-4D97-AF65-F5344CB8AC3E}">
        <p14:creationId xmlns:p14="http://schemas.microsoft.com/office/powerpoint/2010/main" val="19877625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4C0A99F-AE9B-486E-9A36-1F066D74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Fine-tuning produced the strongest validation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4139B-D7D5-46CE-825A-85C6F7E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F95D3-3255-4725-9B87-6FDBA7BB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6667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472c36594c4f0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E517-E8AA-40F9-AAC5-DAEE045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select fine-tuned MobileNetV2?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B43FF-5DD1-45DE-BA75-2F587A0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94.44% validation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1C32B-D9B0-4D2C-A124-D13C47D7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ROC-AUC 0.989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BBC95-41C9-49E4-AE10-64A74CB4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PR-AUC 0.972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F11F7-D8F3-489A-B37E-617DE8F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Best validation loss 0.138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516E7-E31E-44AE-9B60-84FC71DA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B1C1C"/>
                </a:solidFill>
                <a:latin typeface="Arial"/>
                <a:ea typeface="Arial"/>
                <a:cs typeface="Arial"/>
              </a:rPr>
              <a:t>The baseline's 100% recall came from predicting nearly everything as defective.</a:t>
            </a:r>
          </a:p>
        </p:txBody>
      </p:sp>
    </p:spTree>
    <p:extLst>
      <p:ext uri="{BB962C8B-B14F-4D97-AF65-F5344CB8AC3E}">
        <p14:creationId xmlns:p14="http://schemas.microsoft.com/office/powerpoint/2010/main" val="18885257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572046C-7341-4C39-A551-DA8C4BC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 stopping retained epoch 5—not the final epoch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B2153-E418-4335-A47F-1702C17E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7CEE-82B3-4012-B9AA-276F6BC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5a8a64f8d4898"/>
          <a:stretch xmlns:a="http://schemas.openxmlformats.org/drawingml/2006/main"/>
        </p:blipFill>
        <p:spPr>
          <a:xfrm xmlns:a="http://schemas.openxmlformats.org/drawingml/2006/main">
            <a:off x="523875" y="2527080"/>
            <a:ext cx="7334250" cy="23753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B847D-4521-4F40-AC33-00ECE525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C1DEE-0475-40F3-983E-67C2A36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1EF65-DE13-4CB2-9A3B-F86ADBDF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epochs 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76C89-9833-4AED-AEA3-88641F2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EF1DD-AA82-44EE-AE3D-10FAC8E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81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1m 56s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9A3C1-FAFC-4FB8-9DFA-4E9F558F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815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CPU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4FF36-6343-4012-BB65-069ABB4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15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Validation loss became volatile after the best checkpoint—expected with only 14 defective validation images.</a:t>
            </a:r>
          </a:p>
        </p:txBody>
      </p:sp>
    </p:spTree>
    <p:extLst>
      <p:ext uri="{BB962C8B-B14F-4D97-AF65-F5344CB8AC3E}">
        <p14:creationId xmlns:p14="http://schemas.microsoft.com/office/powerpoint/2010/main" val="1502571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CC5F391-0961-40C5-AC4F-6EABBD83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fixed the operating policy before test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4DCF1-A006-4319-9906-D674B4B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A391F-0896-4631-8318-4F14743C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D047E-6FF2-4088-AF21-1817A730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85421-7340-482E-9305-C7ECAC1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5A4CF-EADC-4C54-B203-E66F474F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B1FAF-FDDB-4F39-8640-590F4B4F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31C31-71FB-4834-9CDB-B7954FD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NEEDS HUMAN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C26A1-BF08-49AB-966F-022BF98E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DD747-C4D7-41A3-992C-F81DECB0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33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94D5D-B9B3-4479-BF31-DC51E04A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33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0.152666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2ED17-8212-455A-978A-A93375A2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0.439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C2026-5E17-4D08-B16E-9AB5ED38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733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4EC9E-54F3-4749-AA98-A8A06FE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6FD9F-E3F1-4C07-AF22-762028AD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43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D6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D64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67066-1656-48A0-8FEA-BFD13FA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validation defective 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4B7AD-7712-4CA5-BD3A-D9A2E92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76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25F59-BBF8-49D7-9C64-4837AD89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43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7.41%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B3B28-24F3-4C82-B7CC-D057F024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5435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validation review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99089-9D73-4F9F-837C-99D31D6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7B056-7F3C-4367-A358-EA90588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7D6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7D6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FA5B9-4578-466E-8767-196A5CB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435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validation defects auto-accepted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0D4BF-56B3-4C43-8CE0-2EAABA0D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Selection rule: maximize F1 among thresholds with defective recall ≥ 90%</a:t>
            </a:r>
          </a:p>
        </p:txBody>
      </p:sp>
    </p:spTree>
    <p:extLst>
      <p:ext uri="{BB962C8B-B14F-4D97-AF65-F5344CB8AC3E}">
        <p14:creationId xmlns:p14="http://schemas.microsoft.com/office/powerpoint/2010/main" val="7832833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B8BA67B-CE9C-4996-ACC1-9512144B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Grad-CAM reveals useful focus—and texture shortcuts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A7722-A460-4719-A41C-1976CFA7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D6990-60B8-4D2C-8C90-DA3AC360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e0a8e8ec54222"/>
          <a:srcRect xmlns:a="http://schemas.openxmlformats.org/drawingml/2006/main" l="0" t="39883" r="0" b="39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333500"/>
            <a:ext cx="7239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5B63-10EC-4A0D-A6C8-3CA29D3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we 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526C-1E81-49AF-9A0A-BE1268B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False positives: diffuse texture and border attention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CCF23-621B-4F7C-AA38-555A4D2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Review cases: inconsistent hot regions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DF7B4-366F-48EB-BAE4-77BB8F7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Low confidence: weaker or partial localization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AA77A-E97D-4E37-9B1A-85EEB094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Grad-CAM indicates gradient-based sensitivity—not causal proof.</a:t>
            </a:r>
          </a:p>
        </p:txBody>
      </p:sp>
    </p:spTree>
    <p:extLst>
      <p:ext uri="{BB962C8B-B14F-4D97-AF65-F5344CB8AC3E}">
        <p14:creationId xmlns:p14="http://schemas.microsoft.com/office/powerpoint/2010/main" val="16751371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F76497B-0817-43E0-A92A-2DA766E1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locked test remained strong—but recall fell to 83.33%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D6116-C546-4129-A02F-7D379FB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5FD03-4D92-42AB-9054-FAF93CE4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a01d7a1c84e23"/>
          <a:stretch xmlns:a="http://schemas.openxmlformats.org/drawingml/2006/main"/>
        </p:blipFill>
        <p:spPr>
          <a:xfrm xmlns:a="http://schemas.openxmlformats.org/drawingml/2006/main">
            <a:off x="457200" y="2678894"/>
            <a:ext cx="6858000" cy="1824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3AADF-27D9-4192-9CB4-413E1FA3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81125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DFA85-D7DF-4E88-9130-AA929D66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47825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94.12%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B227E-D506-44E3-A03E-308EABCE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479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6D17B-5DF3-4B33-B1B7-FF19CD1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381125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7DEDC-E56A-41F7-A45B-349BE983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647825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90.91%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A8C95-F7DC-49DA-AD3A-CA639DE9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479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6E0C0-EC33-4E74-976C-55E6DF90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0D06A-C451-4B68-A68F-E2F1ADB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43325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83.33%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1746F-78B3-4221-A611-61B9762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434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defective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843ED-7C0A-4FC6-B8A5-B56AB05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76625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6C4A8-9242-43D4-9F1E-D7E7E3D0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43325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86.96%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4983C-D510-435B-9672-2806FE4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5434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F1-score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B8D1D-9C19-4DD8-9E4D-4C71851F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ROC-AUC 0.974 · PR-AUC 0.944</a:t>
            </a:r>
          </a:p>
        </p:txBody>
      </p:sp>
    </p:spTree>
    <p:extLst>
      <p:ext uri="{BB962C8B-B14F-4D97-AF65-F5344CB8AC3E}">
        <p14:creationId xmlns:p14="http://schemas.microsoft.com/office/powerpoint/2010/main" val="371475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E873457-4695-4681-B616-CB00FF7A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defects passed automatically as Good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00848-8AD5-4BDF-B673-C82E1885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4B78C-AF53-4F21-8B1C-64CC34D8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44d19cb784068"/>
          <a:stretch xmlns:a="http://schemas.openxmlformats.org/drawingml/2006/main"/>
        </p:blipFill>
        <p:spPr>
          <a:xfrm xmlns:a="http://schemas.openxmlformats.org/drawingml/2006/main">
            <a:off x="457200" y="2376684"/>
            <a:ext cx="7239000" cy="253325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D0F9F-D5DE-4089-83DF-9F72C25A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Failure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0A5CC-F6F8-490E-B17D-69BBF66B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gray_stroke: P(defect) = 0.119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80415-EC1C-494C-887C-1733BC05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rough: P(defect) = 0.047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4D8C1-18F3-46A4-B77E-B1B9CE7B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one Good false alarm was sent to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484D0-C3E4-4C03-A018-7560FF7B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Per-defect test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49452-7F9C-498A-AD37-BBE97558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100%  crack · glue_strip · oil</a:t>
            </a:r>
          </a:p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50%    gray_stroke · 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218C3-A51E-4C02-8E7D-C4F8FF4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531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03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Thresholds were not changed after seeing Test.</a:t>
            </a:r>
          </a:p>
        </p:txBody>
      </p:sp>
    </p:spTree>
    <p:extLst>
      <p:ext uri="{BB962C8B-B14F-4D97-AF65-F5344CB8AC3E}">
        <p14:creationId xmlns:p14="http://schemas.microsoft.com/office/powerpoint/2010/main" val="18281782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CE7D38FC-5180-4CFA-A602-543F0FE3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prototype is promising, not production-ready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B9396-7B4C-4A19-AD0C-5842A2CC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EA428-6B3B-455E-A6CA-92AFE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3AE7-B257-43E6-B07F-1B1EBE99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project demonstrates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F059-0DB3-4D94-B9E0-A6DB5D6C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Leakage-safe, reproducible supervised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D9049-942E-4026-B874-6D1A4E3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Transfer learning and controlled fine-tuning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0AEEC-1BE0-436D-86F5-7696566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Transparent thresholding and Grad-CAM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8832A-2D6A-4AD7-868D-CC031B0D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must happen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D0C3A-CADE-4D48-9167-10BC0ED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Collect more gray_stroke and rough defects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F1EB3-D220-4631-A316-C91EAF87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Create a new untouched holdout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05A5B-922C-43F6-80C6-55CE4D90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Calibrate risk under an explicit cost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DE62B-DF1F-4530-8B08-A89FB5CB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Run a prospective human-in-the-loop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3CB06-B25A-42F7-982A-62D0CCC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28600" tIns="171450" rIns="228600" bIns="11430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Strong ranking performance does not eliminate the need for accountable human quality control.</a:t>
            </a:r>
          </a:p>
        </p:txBody>
      </p:sp>
    </p:spTree>
    <p:extLst>
      <p:ext uri="{BB962C8B-B14F-4D97-AF65-F5344CB8AC3E}">
        <p14:creationId xmlns:p14="http://schemas.microsoft.com/office/powerpoint/2010/main" val="304554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2026-08-14T21:23:17.3430000Z</dcterms:created>
  <dcterms:modified xsi:type="dcterms:W3CDTF">2026-08-14T21:23:17.3430000Z</dcterms:modified>
</coreProperties>
</file>